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3827"/>
                </a:solidFill>
                <a:latin typeface="Georgia"/>
              </a:defRPr>
            </a:pPr>
            <a:r>
              <a:t>TRIPSAATHI CORE ARCHITECTURE • MULTI-MODAL RECOVERY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D1B18"/>
                </a:solidFill>
                <a:latin typeface="Georgia"/>
              </a:defRPr>
            </a:pPr>
            <a:r>
              <a:t>Autonomous Journey Recovery: From Ingestion to Delay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B645B"/>
                </a:solidFill>
                <a:latin typeface="Arial"/>
              </a:defRPr>
            </a:pPr>
            <a:r>
              <a:t>How TinyFish Web Agents, ChatGPT Ingestion, and Deterministic Rules Automate Connected Recovery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411480"/>
            <a:ext cx="1737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6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D1B18"/>
                </a:solidFill>
                <a:latin typeface="Georgia"/>
              </a:defRPr>
            </a:pPr>
            <a:r>
              <a:t>TripSaathi</a:t>
            </a:r>
          </a:p>
          <a:p>
            <a:pPr algn="ctr">
              <a:defRPr sz="800" b="1">
                <a:solidFill>
                  <a:srgbClr val="A83827"/>
                </a:solidFill>
                <a:latin typeface="Arial"/>
              </a:defRPr>
            </a:pPr>
            <a:r>
              <a:t>RECOVER THE JOURNEY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1091672" cy="13716"/>
          </a:xfrm>
          <a:prstGeom prst="rect">
            <a:avLst/>
          </a:prstGeom>
          <a:solidFill>
            <a:srgbClr val="E6D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1B18"/>
                </a:solidFill>
                <a:latin typeface="Arial"/>
              </a:defRPr>
            </a:pPr>
            <a:r>
              <a:t>01 • INPUT &amp; BOOKING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20"/>
            <a:ext cx="1719072" cy="18288"/>
          </a:xfrm>
          <a:prstGeom prst="rect">
            <a:avLst/>
          </a:prstGeom>
          <a:solidFill>
            <a:srgbClr val="A83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171907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6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50" b="1">
                <a:solidFill>
                  <a:srgbClr val="1D1B18"/>
                </a:solidFill>
                <a:latin typeface="Georgia"/>
              </a:defRPr>
            </a:pPr>
            <a:r>
              <a:t>Search Request  [TinyFish]</a:t>
            </a:r>
          </a:p>
          <a:p>
            <a:pPr>
              <a:defRPr sz="900">
                <a:solidFill>
                  <a:srgbClr val="6B645B"/>
                </a:solidFill>
                <a:latin typeface="Arial"/>
              </a:defRPr>
            </a:pPr>
            <a:r>
              <a:t>User submits Origin, Dest, Dates &amp; Budget.</a:t>
            </a:r>
          </a:p>
          <a:p>
            <a:br/>
            <a:pPr>
              <a:defRPr sz="800" b="1">
                <a:solidFill>
                  <a:srgbClr val="A83827"/>
                </a:solidFill>
                <a:latin typeface="Courier New"/>
              </a:defRPr>
            </a:pPr>
            <a:r>
              <a:t>TinyFish searches live fares on IndiGo &amp; Air India within budget.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91840"/>
            <a:ext cx="171907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6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50" b="1">
                <a:solidFill>
                  <a:srgbClr val="1D1B18"/>
                </a:solidFill>
                <a:latin typeface="Georgia"/>
              </a:defRPr>
            </a:pPr>
            <a:r>
              <a:t>1-Click Autofill  [Guided]</a:t>
            </a:r>
          </a:p>
          <a:p>
            <a:pPr>
              <a:defRPr sz="900">
                <a:solidFill>
                  <a:srgbClr val="6B645B"/>
                </a:solidFill>
                <a:latin typeface="Arial"/>
              </a:defRPr>
            </a:pPr>
            <a:r>
              <a:t>Pre-fills profile into carrier link; user checks out securely.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7720"/>
            <a:ext cx="1719072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6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50" b="1">
                <a:solidFill>
                  <a:srgbClr val="1D1B18"/>
                </a:solidFill>
                <a:latin typeface="Georgia"/>
              </a:defRPr>
            </a:pPr>
            <a:r>
              <a:t>Or: Pre-Booked  [Input]</a:t>
            </a:r>
          </a:p>
          <a:p>
            <a:pPr>
              <a:defRPr sz="900">
                <a:solidFill>
                  <a:srgbClr val="6B645B"/>
                </a:solidFill>
                <a:latin typeface="Arial"/>
              </a:defRPr>
            </a:pPr>
            <a:r>
              <a:t>Uploads existing flight PDF, PNR, or forwarded email.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554480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1B18"/>
                </a:solidFill>
                <a:latin typeface="Arial"/>
              </a:defRPr>
            </a:pPr>
            <a:r>
              <a:t>02 • LLM PARSER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23160" y="1874520"/>
            <a:ext cx="1719072" cy="18288"/>
          </a:xfrm>
          <a:prstGeom prst="rect">
            <a:avLst/>
          </a:prstGeom>
          <a:solidFill>
            <a:srgbClr val="A83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23160" y="1965960"/>
            <a:ext cx="1719072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6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50" b="1">
                <a:solidFill>
                  <a:srgbClr val="1D1B18"/>
                </a:solidFill>
                <a:latin typeface="Georgia"/>
              </a:defRPr>
            </a:pPr>
            <a:r>
              <a:t>ChatGPT Parser  [gpt-4o]</a:t>
            </a:r>
          </a:p>
          <a:p>
            <a:pPr>
              <a:defRPr sz="900">
                <a:solidFill>
                  <a:srgbClr val="6B645B"/>
                </a:solidFill>
                <a:latin typeface="Arial"/>
              </a:defRPr>
            </a:pPr>
            <a:r>
              <a:t>Parses unstructured tickets &amp; emails into linked timeline:</a:t>
            </a:r>
          </a:p>
          <a:p>
            <a:br/>
            <a:pPr>
              <a:defRPr sz="800" b="1">
                <a:solidFill>
                  <a:srgbClr val="A83827"/>
                </a:solidFill>
                <a:latin typeface="Courier New"/>
              </a:defRPr>
            </a:pPr>
            <a:r>
              <a:t>• Flight AI-804: 14:15→16:30</a:t>
            </a:r>
            <a:br/>
            <a:r>
              <a:t>• Stay: Taj (Cut-off: 20:00)</a:t>
            </a:r>
            <a:br/>
            <a:r>
              <a:t>• Transit: BOM T2 Cab</a:t>
            </a:r>
            <a:br/>
            <a:r>
              <a:t>• Event: Dinner (20:00)</a:t>
            </a:r>
            <a:br/>
            <a:br/>
            <a:r>
              <a:t>Stores into MongoDB Atlas.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554480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1B18"/>
                </a:solidFill>
                <a:latin typeface="Arial"/>
              </a:defRPr>
            </a:pPr>
            <a:r>
              <a:t>03 • STATUS MONITOR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74520"/>
            <a:ext cx="1719072" cy="18288"/>
          </a:xfrm>
          <a:prstGeom prst="rect">
            <a:avLst/>
          </a:prstGeom>
          <a:solidFill>
            <a:srgbClr val="A83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1965960"/>
            <a:ext cx="1719072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6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50" b="1">
                <a:solidFill>
                  <a:srgbClr val="1D1B18"/>
                </a:solidFill>
                <a:latin typeface="Georgia"/>
              </a:defRPr>
            </a:pPr>
            <a:r>
              <a:t>TinyFish Monitor  [Crawler]</a:t>
            </a:r>
          </a:p>
          <a:p>
            <a:pPr>
              <a:defRPr sz="900">
                <a:solidFill>
                  <a:srgbClr val="6B645B"/>
                </a:solidFill>
                <a:latin typeface="Arial"/>
              </a:defRPr>
            </a:pPr>
            <a:r>
              <a:t>Autonomous background worker polling live flight radar &amp; gate boards.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886200"/>
            <a:ext cx="1719072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6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50" b="1">
                <a:solidFill>
                  <a:srgbClr val="1D1B18"/>
                </a:solidFill>
                <a:latin typeface="Georgia"/>
              </a:defRPr>
            </a:pPr>
            <a:r>
              <a:t>Deviation Check  [Alert]</a:t>
            </a:r>
          </a:p>
          <a:p>
            <a:pPr>
              <a:defRPr sz="900">
                <a:solidFill>
                  <a:srgbClr val="6B645B"/>
                </a:solidFill>
                <a:latin typeface="Arial"/>
              </a:defRPr>
            </a:pPr>
            <a:r>
              <a:t>Monitors deviation threshold.</a:t>
            </a:r>
          </a:p>
          <a:p>
            <a:br/>
            <a:pPr>
              <a:defRPr sz="800" b="1">
                <a:solidFill>
                  <a:srgbClr val="A83827"/>
                </a:solidFill>
                <a:latin typeface="Courier New"/>
              </a:defRPr>
            </a:pPr>
            <a:r>
              <a:t>DISRUPTION DETECTED!</a:t>
            </a:r>
            <a:br/>
            <a:r>
              <a:t>Flight AI-804 delayed by 2h 30m.</a:t>
            </a:r>
            <a:br/>
            <a:r>
              <a:t>Landing: 16:30 → 19:00.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554480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1B18"/>
                </a:solidFill>
                <a:latin typeface="Arial"/>
              </a:defRPr>
            </a:pPr>
            <a:r>
              <a:t>04 • DOWNSTREAM IMPACT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874520"/>
            <a:ext cx="1719072" cy="18288"/>
          </a:xfrm>
          <a:prstGeom prst="rect">
            <a:avLst/>
          </a:prstGeom>
          <a:solidFill>
            <a:srgbClr val="A83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1965960"/>
            <a:ext cx="1719072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6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50" b="1">
                <a:solidFill>
                  <a:srgbClr val="1D1B18"/>
                </a:solidFill>
                <a:latin typeface="Georgia"/>
              </a:defRPr>
            </a:pPr>
            <a:r>
              <a:t>Chain Reaction  [Critical]</a:t>
            </a:r>
          </a:p>
          <a:p>
            <a:pPr>
              <a:defRPr sz="900">
                <a:solidFill>
                  <a:srgbClr val="6B645B"/>
                </a:solidFill>
                <a:latin typeface="Arial"/>
              </a:defRPr>
            </a:pPr>
            <a:r>
              <a:t>Time-series engine maps ripple effects across bookings:</a:t>
            </a:r>
          </a:p>
          <a:p>
            <a:br/>
            <a:pPr>
              <a:defRPr sz="800" b="1">
                <a:solidFill>
                  <a:srgbClr val="A83827"/>
                </a:solidFill>
                <a:latin typeface="Courier New"/>
              </a:defRPr>
            </a:pPr>
            <a:r>
              <a:t>• Landing: 19:00</a:t>
            </a:r>
            <a:br/>
            <a:r>
              <a:t>• Transit: 1h 30m</a:t>
            </a:r>
            <a:br/>
            <a:r>
              <a:t>• Hotel Arrival: 20:30</a:t>
            </a:r>
            <a:br/>
            <a:br/>
            <a:r>
              <a:t>CONFLICT: 20:30 exceeds Taj 20:00 cut-off!</a:t>
            </a:r>
            <a:br/>
            <a:r>
              <a:t>Dinner missed.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1554480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1B18"/>
                </a:solidFill>
                <a:latin typeface="Arial"/>
              </a:defRPr>
            </a:pPr>
            <a:r>
              <a:t>05 • POLICY SCOUT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1874520"/>
            <a:ext cx="1719072" cy="18288"/>
          </a:xfrm>
          <a:prstGeom prst="rect">
            <a:avLst/>
          </a:prstGeom>
          <a:solidFill>
            <a:srgbClr val="A83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1965960"/>
            <a:ext cx="1719072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6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50" b="1">
                <a:solidFill>
                  <a:srgbClr val="1D1B18"/>
                </a:solidFill>
                <a:latin typeface="Georgia"/>
              </a:defRPr>
            </a:pPr>
            <a:r>
              <a:t>TinyFish Web Scout  [Web AI]</a:t>
            </a:r>
          </a:p>
          <a:p>
            <a:pPr>
              <a:defRPr sz="900">
                <a:solidFill>
                  <a:srgbClr val="6B645B"/>
                </a:solidFill>
                <a:latin typeface="Arial"/>
              </a:defRPr>
            </a:pPr>
            <a:r>
              <a:t>Dispatches crawler agents to downstream vendor sites:</a:t>
            </a:r>
          </a:p>
          <a:p>
            <a:br/>
            <a:pPr>
              <a:defRPr sz="800" b="1">
                <a:solidFill>
                  <a:srgbClr val="A83827"/>
                </a:solidFill>
                <a:latin typeface="Courier New"/>
              </a:defRPr>
            </a:pPr>
            <a:r>
              <a:t>Hotel Taj Policy Scraped:</a:t>
            </a:r>
            <a:br/>
            <a:r>
              <a:t>"Free late hold until 23:00 if notified before 20:00."</a:t>
            </a:r>
            <a:br/>
            <a:br/>
            <a:r>
              <a:t>Dinner Policy:</a:t>
            </a:r>
            <a:br/>
            <a:r>
              <a:t>Free reschedule before 19:00.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1554480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1B18"/>
                </a:solidFill>
                <a:latin typeface="Arial"/>
              </a:defRPr>
            </a:pPr>
            <a:r>
              <a:t>06 • RECOVERY DECISION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1240" y="1874520"/>
            <a:ext cx="1719072" cy="18288"/>
          </a:xfrm>
          <a:prstGeom prst="rect">
            <a:avLst/>
          </a:prstGeom>
          <a:solidFill>
            <a:srgbClr val="A83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21240" y="1965960"/>
            <a:ext cx="1719072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6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050" b="1">
                <a:solidFill>
                  <a:srgbClr val="1D1B18"/>
                </a:solidFill>
                <a:latin typeface="Georgia"/>
              </a:defRPr>
            </a:pPr>
            <a:r>
              <a:t>Deterministic Rules  [Verified]</a:t>
            </a:r>
          </a:p>
          <a:p>
            <a:pPr>
              <a:defRPr sz="900">
                <a:solidFill>
                  <a:srgbClr val="6B645B"/>
                </a:solidFill>
                <a:latin typeface="Arial"/>
              </a:defRPr>
            </a:pPr>
            <a:r>
              <a:t>Validates buffer: 20:30 arrival &lt; 23:00 hold (100% Feasible).</a:t>
            </a:r>
          </a:p>
          <a:p>
            <a:br/>
            <a:pPr>
              <a:defRPr sz="800" b="1">
                <a:solidFill>
                  <a:srgbClr val="A83827"/>
                </a:solidFill>
                <a:latin typeface="Courier New"/>
              </a:defRPr>
            </a:pPr>
            <a:r>
              <a:t>Ranked Recovery Options:</a:t>
            </a:r>
            <a:br/>
            <a:r>
              <a:t>1. Hold Stay (₹0 fee)</a:t>
            </a:r>
            <a:br/>
            <a:r>
              <a:t>2. Rebook IndiGo (+₹2.4k)</a:t>
            </a:r>
            <a:br/>
            <a:br/>
            <a:r>
              <a:t>User 1-Tap Approves Plan 1.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217920"/>
            <a:ext cx="11091672" cy="13716"/>
          </a:xfrm>
          <a:prstGeom prst="rect">
            <a:avLst/>
          </a:prstGeom>
          <a:solidFill>
            <a:srgbClr val="E6D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83827"/>
                </a:solidFill>
                <a:latin typeface="Arial"/>
              </a:defRPr>
            </a:pPr>
            <a:r>
              <a:t>CORE PRINCIPLE: AI Investigates (TinyFish) • Rules Validate (FastAPI) • People Decide (1-Tap Approval)</a:t>
            </a:r>
          </a:p>
          <a:p>
            <a:pPr>
              <a:defRPr sz="850">
                <a:solidFill>
                  <a:srgbClr val="6B645B"/>
                </a:solidFill>
                <a:latin typeface="Arial"/>
              </a:defRPr>
            </a:pPr>
            <a:r>
              <a:t>Stack: Python FastAPI + React Native • Agentic Crawling: TinyFish Web API • Database: MongoDB 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83827"/>
                </a:solidFill>
                <a:latin typeface="Georgia"/>
              </a:defRPr>
            </a:pPr>
            <a:r>
              <a:t>TRIPSAATHI RECOVERY MATRIX</a:t>
            </a:r>
          </a:p>
          <a:p>
            <a:pPr>
              <a:defRPr sz="2200" b="1">
                <a:solidFill>
                  <a:srgbClr val="1D1B18"/>
                </a:solidFill>
                <a:latin typeface="Georgia"/>
              </a:defRPr>
            </a:pPr>
            <a:r>
              <a:t>Step-by-Step Technical Execution &amp; Integration 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167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4206240"/>
                <a:gridCol w="2953512"/>
              </a:tblGrid>
              <a:tr h="6270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A83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Primary Component</a:t>
                      </a:r>
                    </a:p>
                  </a:txBody>
                  <a:tcPr>
                    <a:solidFill>
                      <a:srgbClr val="A83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Technical Workflow &amp; Data Flow</a:t>
                      </a:r>
                    </a:p>
                  </a:txBody>
                  <a:tcPr>
                    <a:solidFill>
                      <a:srgbClr val="A83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Output &amp; System State</a:t>
                      </a:r>
                    </a:p>
                  </a:txBody>
                  <a:tcPr>
                    <a:solidFill>
                      <a:srgbClr val="A8382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83827"/>
                          </a:solidFill>
                          <a:latin typeface="Arial"/>
                        </a:defRPr>
                      </a:pPr>
                      <a:r>
                        <a:t>01. Booking / Input</a:t>
                      </a:r>
                    </a:p>
                  </a:txBody>
                  <a:tcPr>
                    <a:solidFill>
                      <a:srgbClr val="F8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TinyFish + DeepLinks</a:t>
                      </a:r>
                    </a:p>
                  </a:txBody>
                  <a:tcPr>
                    <a:solidFill>
                      <a:srgbClr val="F8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User searches or inputs PNR/ticket. TinyFish crawls portals to pre-fill passenger profile directly into booking forms.</a:t>
                      </a:r>
                    </a:p>
                  </a:txBody>
                  <a:tcPr>
                    <a:solidFill>
                      <a:srgbClr val="F8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Booking confirmed; PNR and receipt issued.</a:t>
                      </a:r>
                    </a:p>
                  </a:txBody>
                  <a:tcPr>
                    <a:solidFill>
                      <a:srgbClr val="F8F4E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83827"/>
                          </a:solidFill>
                          <a:latin typeface="Arial"/>
                        </a:defRPr>
                      </a:pPr>
                      <a:r>
                        <a:t>02.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ChatGPT API (gpt-4o)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LLM ingests unformatted ticket PDFs and booking emails. Extracts multi-modal chronology (flight times, stay cutoff, transfers).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Normalized JSON itinerary written to MongoDB Atlas.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83827"/>
                          </a:solidFill>
                          <a:latin typeface="Arial"/>
                        </a:defRPr>
                      </a:pPr>
                      <a:r>
                        <a:t>03. Monitoring</a:t>
                      </a:r>
                    </a:p>
                  </a:txBody>
                  <a:tcPr>
                    <a:solidFill>
                      <a:srgbClr val="F8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TinyFish Browser Agent</a:t>
                      </a:r>
                    </a:p>
                  </a:txBody>
                  <a:tcPr>
                    <a:solidFill>
                      <a:srgbClr val="F8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Periodic autonomous crawler queries airline flight radar and gate schedules for active status deviations.</a:t>
                      </a:r>
                    </a:p>
                  </a:txBody>
                  <a:tcPr>
                    <a:solidFill>
                      <a:srgbClr val="F8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Status: ON_TIME or DELAYED with exact minutes.</a:t>
                      </a:r>
                    </a:p>
                  </a:txBody>
                  <a:tcPr>
                    <a:solidFill>
                      <a:srgbClr val="F8F4EE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83827"/>
                          </a:solidFill>
                          <a:latin typeface="Arial"/>
                        </a:defRPr>
                      </a:pPr>
                      <a:r>
                        <a:t>04. Impact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Deterministic 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Time-series calculator evaluates downstream timeline: Flight Arrival + Transfer Buffer vs. Hotel Check-in Cut-off.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Flags critical conflicts (e.g. 20:30 arrival &gt; 20:00 cutoff).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83827"/>
                          </a:solidFill>
                          <a:latin typeface="Arial"/>
                        </a:defRPr>
                      </a:pPr>
                      <a:r>
                        <a:t>05. Policy Scouting</a:t>
                      </a:r>
                    </a:p>
                  </a:txBody>
                  <a:tcPr>
                    <a:solidFill>
                      <a:srgbClr val="F8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TinyFish Web Scout</a:t>
                      </a:r>
                    </a:p>
                  </a:txBody>
                  <a:tcPr>
                    <a:solidFill>
                      <a:srgbClr val="F8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Dispatches crawler agents to hotel desk and activity sites to parse late-arrival policies and free cancellation terms.</a:t>
                      </a:r>
                    </a:p>
                  </a:txBody>
                  <a:tcPr>
                    <a:solidFill>
                      <a:srgbClr val="F8F4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Extracted rule: "Hold room until 23:00 at ₹0 fee".</a:t>
                      </a:r>
                    </a:p>
                  </a:txBody>
                  <a:tcPr>
                    <a:solidFill>
                      <a:srgbClr val="F8F4EE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A83827"/>
                          </a:solidFill>
                          <a:latin typeface="Arial"/>
                        </a:defRPr>
                      </a:pPr>
                      <a:r>
                        <a:t>06. User 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React Native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FastAPI calculates ranked feasible recovery plans. User receives alert and approves Option 1 with a single tap.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D1B18"/>
                          </a:solidFill>
                          <a:latin typeface="Arial"/>
                        </a:defRPr>
                      </a:pPr>
                      <a:r>
                        <a:t>Hold notice submitted; trip confirmed recovered.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